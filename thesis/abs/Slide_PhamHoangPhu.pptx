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8" d="100"/>
          <a:sy n="58" d="100"/>
        </p:scale>
        <p:origin x="8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AEEAE-4767-6FFC-3C10-A70957B17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7ABA9-9255-99D3-0BF2-F2B79CD2C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36D4D-3D46-9798-F6C7-1CC8798AE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55D89-7822-45B8-90E6-9C64337B81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892A0-42AF-00EA-5096-239E2CA89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C396F-7B86-FA9C-0F29-CDC44905D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24EB-C83B-478B-A403-3C471E091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33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B83D0-8A32-0FDA-5600-B8F29CBC6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2941E-8569-FF6F-8244-B95ECC5E2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A6267-F009-E8E5-6FEE-749FB330D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55D89-7822-45B8-90E6-9C64337B81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4C764-4E6D-7930-CDB3-BF2C9F39E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A48E7-9DC5-2958-1765-ACBDD668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24EB-C83B-478B-A403-3C471E091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3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8976E-CB29-445E-1683-9DFCA957C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E04F4-633C-B08A-9172-DF39EE7F9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02E17-CBA8-EB8A-B07F-A5B9AE704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55D89-7822-45B8-90E6-9C64337B81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6101A-1D32-98C0-C4F4-33EBF9796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42208-97B7-3694-74C3-70C10F96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24EB-C83B-478B-A403-3C471E091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8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FCB4A-055A-9AA4-511F-B0A8DF7D7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6950C-D478-1E77-2333-4976678AC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5C5914-D93B-1C1A-522E-9036568E7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7D202-29F9-E8FF-9DE9-2E3A61233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55D89-7822-45B8-90E6-9C64337B81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41D37-717C-D1D9-5AA2-1AA6F213F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07EA5-9993-F029-0D47-9C7D762F2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24EB-C83B-478B-A403-3C471E091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7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708F9-47E9-DBB7-09E8-281904B6D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4F1A0-EC55-E1E0-53BB-4083E23CD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4F81D8-7BC6-DD21-3927-862B3FE91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546269-7CB3-3885-0297-3ADBEF551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6ECB64-42EB-D24B-EB49-AF83DCA904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C8E577-80F5-EE30-ED13-BFF07F314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55D89-7822-45B8-90E6-9C64337B81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13FECD-D993-E62D-EB6F-743A6072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561A0-B25F-BE3D-8951-7C3E04F6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24EB-C83B-478B-A403-3C471E091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80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8D909-EDC1-5393-6F07-0B4B6376B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4A17FB-32E4-D3EF-CBFC-B455395BC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55D89-7822-45B8-90E6-9C64337B81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438D25-4C64-F97C-7B8D-90DF54042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6B333-0FC6-C4D9-0E7F-F380A476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24EB-C83B-478B-A403-3C471E091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18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9D5F-EC41-0839-CA25-150CBAEE9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55D89-7822-45B8-90E6-9C64337B81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7A1D5-CCF5-AC7A-4A16-0E1252B14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C8D77-7343-183C-37A9-33A7B30D6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24EB-C83B-478B-A403-3C471E091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44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4366-0720-86BB-6CC4-E71900759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61F3D-D3E3-A8AE-D2F4-974A7D0AE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A4C23-72B9-DE7E-A7C9-C61DA4F5B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5081F-6333-02FF-8B52-30A2B91FB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55D89-7822-45B8-90E6-9C64337B81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507A2-0A47-F828-BFA9-9F5F4990E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14EB8-804A-58AB-6619-59D808E5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24EB-C83B-478B-A403-3C471E091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92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ACCE6-B849-E94A-C92D-54E57DF4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9FD59-A473-6CBA-79F8-B4BF005CB8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67885-F0B9-F8FF-3D67-4C8F936F4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F01EF-FECA-C7B3-5D36-AA81F96F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55D89-7822-45B8-90E6-9C64337B81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8C597-9AB3-8C15-EF53-C094C6667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0129B-685C-7C9B-23CC-E71618C9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24EB-C83B-478B-A403-3C471E091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15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ACFAF-39D8-34F2-5BB2-8F801B87E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9602E2-3BD2-FA97-6923-BEE0586AF3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3206E-BBED-9AAD-2F30-E25D94E1E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55D89-7822-45B8-90E6-9C64337B81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8550A-7828-F2B4-AACE-57C61E022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56586-6962-7AA2-BBC8-AC6E9C7D9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24EB-C83B-478B-A403-3C471E091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94D6E2-61FB-B846-560E-AB5EDCE433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05392-468F-5126-782E-C2BDD27D5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C56CC-C4AC-976E-D64F-8D5F75B20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55D89-7822-45B8-90E6-9C64337B81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920FE-5179-8DC8-5557-55179BD5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8F408-93B6-1FBF-7F7E-D3748B82C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24EB-C83B-478B-A403-3C471E091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418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F9BC3C-A2EB-DAF7-EB2E-CE232BAD9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0593B-0C95-F1F9-365A-018ADC8B8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DFEEF-A56B-BE72-4717-DFBD35613C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55D89-7822-45B8-90E6-9C64337B81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4D030-468D-9D97-F0C0-5A0B51FB63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477B3-4FD7-589D-9CFC-58831B221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924EB-C83B-478B-A403-3C471E091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44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C8B244-7C01-798F-40A2-41F0BCD30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9145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DB2036-A0D7-52EC-6F15-5D41218274EF}"/>
              </a:ext>
            </a:extLst>
          </p:cNvPr>
          <p:cNvSpPr txBox="1"/>
          <p:nvPr/>
        </p:nvSpPr>
        <p:spPr>
          <a:xfrm>
            <a:off x="8152638" y="1506712"/>
            <a:ext cx="322021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6"/>
                </a:solidFill>
              </a:rPr>
              <a:t>css</a:t>
            </a:r>
            <a:r>
              <a:rPr lang="en-US" b="1" dirty="0">
                <a:solidFill>
                  <a:schemeClr val="accent6"/>
                </a:solidFill>
              </a:rPr>
              <a:t>/</a:t>
            </a:r>
            <a:r>
              <a:rPr lang="en-US" b="1" dirty="0" err="1">
                <a:solidFill>
                  <a:schemeClr val="accent6"/>
                </a:solidFill>
              </a:rPr>
              <a:t>site.css</a:t>
            </a:r>
            <a:r>
              <a:rPr lang="en-US" dirty="0">
                <a:solidFill>
                  <a:schemeClr val="accent6"/>
                </a:solidFill>
              </a:rPr>
              <a:t>: </a:t>
            </a:r>
            <a:r>
              <a:rPr lang="en-US" dirty="0" err="1">
                <a:solidFill>
                  <a:schemeClr val="accent6"/>
                </a:solidFill>
              </a:rPr>
              <a:t>Chứa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các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đoạn</a:t>
            </a:r>
            <a:r>
              <a:rPr lang="en-US" dirty="0">
                <a:solidFill>
                  <a:schemeClr val="accent6"/>
                </a:solidFill>
              </a:rPr>
              <a:t> code CSS </a:t>
            </a:r>
            <a:r>
              <a:rPr lang="en-US" dirty="0" err="1">
                <a:solidFill>
                  <a:schemeClr val="accent6"/>
                </a:solidFill>
              </a:rPr>
              <a:t>dùng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để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định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dạng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màu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sắc</a:t>
            </a:r>
            <a:r>
              <a:rPr lang="en-US" dirty="0">
                <a:solidFill>
                  <a:schemeClr val="accent6"/>
                </a:solidFill>
              </a:rPr>
              <a:t>, font </a:t>
            </a:r>
            <a:r>
              <a:rPr lang="en-US" dirty="0" err="1">
                <a:solidFill>
                  <a:schemeClr val="accent6"/>
                </a:solidFill>
              </a:rPr>
              <a:t>chữ</a:t>
            </a:r>
            <a:r>
              <a:rPr lang="en-US" dirty="0">
                <a:solidFill>
                  <a:schemeClr val="accent6"/>
                </a:solidFill>
              </a:rPr>
              <a:t>, layout </a:t>
            </a:r>
            <a:r>
              <a:rPr lang="en-US" dirty="0" err="1">
                <a:solidFill>
                  <a:schemeClr val="accent6"/>
                </a:solidFill>
              </a:rPr>
              <a:t>cho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trang</a:t>
            </a:r>
            <a:r>
              <a:rPr lang="en-US" dirty="0">
                <a:solidFill>
                  <a:schemeClr val="accent6"/>
                </a:solidFill>
              </a:rPr>
              <a:t> web</a:t>
            </a:r>
          </a:p>
          <a:p>
            <a:r>
              <a:rPr lang="vi-VN" b="1" dirty="0">
                <a:solidFill>
                  <a:schemeClr val="accent6"/>
                </a:solidFill>
              </a:rPr>
              <a:t>images/</a:t>
            </a:r>
            <a:r>
              <a:rPr lang="vi-VN" dirty="0">
                <a:solidFill>
                  <a:schemeClr val="accent6"/>
                </a:solidFill>
              </a:rPr>
              <a:t>: Thư mục lưu trữ hình ảnh của website (logo, banner, ảnh các món trà sữa).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vi-VN" b="1" dirty="0">
                <a:solidFill>
                  <a:schemeClr val="accent6"/>
                </a:solidFill>
              </a:rPr>
              <a:t>js/</a:t>
            </a:r>
            <a:r>
              <a:rPr lang="vi-VN" dirty="0">
                <a:solidFill>
                  <a:schemeClr val="accent6"/>
                </a:solidFill>
              </a:rPr>
              <a:t>: Chứa các file JavaScript xử lý các hiệu ứng động ở phía giao diện người dùng.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vi-VN" b="1" dirty="0">
                <a:solidFill>
                  <a:schemeClr val="accent6"/>
                </a:solidFill>
              </a:rPr>
              <a:t>lib/</a:t>
            </a:r>
            <a:r>
              <a:rPr lang="vi-VN" dirty="0">
                <a:solidFill>
                  <a:schemeClr val="accent6"/>
                </a:solidFill>
              </a:rPr>
              <a:t>: Chứa các thư viện mã nguồn mở bên ngoài được tích hợp sẵn (như Bootstrap, jQuery).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vi-VN" b="1" dirty="0">
                <a:solidFill>
                  <a:schemeClr val="accent6"/>
                </a:solidFill>
              </a:rPr>
              <a:t>favicon.ico</a:t>
            </a:r>
            <a:r>
              <a:rPr lang="vi-VN" dirty="0">
                <a:solidFill>
                  <a:schemeClr val="accent6"/>
                </a:solidFill>
              </a:rPr>
              <a:t>: Biểu tượng nhỏ hiển thị trên tab của trình duyệt web.</a:t>
            </a:r>
            <a:endParaRPr lang="en-US" dirty="0">
              <a:solidFill>
                <a:schemeClr val="accent6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9582F6-D102-7904-80B0-A50CD54BAF18}"/>
              </a:ext>
            </a:extLst>
          </p:cNvPr>
          <p:cNvSpPr txBox="1"/>
          <p:nvPr/>
        </p:nvSpPr>
        <p:spPr>
          <a:xfrm>
            <a:off x="8515350" y="501134"/>
            <a:ext cx="3067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>
                <a:solidFill>
                  <a:srgbClr val="FF0000"/>
                </a:solidFill>
              </a:rPr>
              <a:t>Thư mục </a:t>
            </a:r>
            <a:r>
              <a:rPr lang="vi-VN" dirty="0">
                <a:solidFill>
                  <a:srgbClr val="FF0000"/>
                </a:solidFill>
                <a:latin typeface="Courier New" panose="02070309020205020404" pitchFamily="49" charset="0"/>
              </a:rPr>
              <a:t>wwwroot</a:t>
            </a:r>
            <a:r>
              <a:rPr lang="vi-VN" dirty="0">
                <a:solidFill>
                  <a:srgbClr val="FF0000"/>
                </a:solidFill>
              </a:rPr>
              <a:t> (Tài nguyên tĩnh)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751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5C911D-00BC-CA14-4B45-8E4D10944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77150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CEC5AA-0BFF-2E1B-C0AD-99FC1B429356}"/>
              </a:ext>
            </a:extLst>
          </p:cNvPr>
          <p:cNvSpPr txBox="1"/>
          <p:nvPr/>
        </p:nvSpPr>
        <p:spPr>
          <a:xfrm>
            <a:off x="8055673" y="1439609"/>
            <a:ext cx="34911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accent6"/>
                </a:solidFill>
              </a:rPr>
              <a:t>CategoriesController.cs</a:t>
            </a:r>
            <a:r>
              <a:rPr lang="vi-VN" dirty="0">
                <a:solidFill>
                  <a:schemeClr val="accent6"/>
                </a:solidFill>
              </a:rPr>
              <a:t>: Quản lý </a:t>
            </a:r>
            <a:r>
              <a:rPr lang="vi-VN" b="1" dirty="0">
                <a:solidFill>
                  <a:schemeClr val="accent6"/>
                </a:solidFill>
              </a:rPr>
              <a:t>Danh mục sản phẩm</a:t>
            </a:r>
            <a:r>
              <a:rPr lang="vi-VN" dirty="0">
                <a:solidFill>
                  <a:schemeClr val="accent6"/>
                </a:solidFill>
              </a:rPr>
              <a:t> (thêm/sửa/xóa/xem các loại trà sữa như: </a:t>
            </a:r>
            <a:r>
              <a:rPr lang="vi-VN" i="1" dirty="0">
                <a:solidFill>
                  <a:schemeClr val="accent6"/>
                </a:solidFill>
              </a:rPr>
              <a:t>Trà sữa, Hồng trà, Topping...</a:t>
            </a:r>
            <a:r>
              <a:rPr lang="vi-VN" dirty="0">
                <a:solidFill>
                  <a:schemeClr val="accent6"/>
                </a:solidFill>
              </a:rPr>
              <a:t>).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vi-VN" b="1" dirty="0">
                <a:solidFill>
                  <a:schemeClr val="accent6"/>
                </a:solidFill>
              </a:rPr>
              <a:t>HomeController.cs</a:t>
            </a:r>
            <a:r>
              <a:rPr lang="vi-VN" dirty="0">
                <a:solidFill>
                  <a:schemeClr val="accent6"/>
                </a:solidFill>
              </a:rPr>
              <a:t>: Điều hướng các trang cơ bản như </a:t>
            </a:r>
            <a:r>
              <a:rPr lang="vi-VN" b="1" dirty="0">
                <a:solidFill>
                  <a:schemeClr val="accent6"/>
                </a:solidFill>
              </a:rPr>
              <a:t>Trang chủ</a:t>
            </a:r>
            <a:r>
              <a:rPr lang="vi-VN" dirty="0">
                <a:solidFill>
                  <a:schemeClr val="accent6"/>
                </a:solidFill>
              </a:rPr>
              <a:t>, Trang giới thiệu, Trang liên hệ.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b="1" dirty="0" err="1">
                <a:solidFill>
                  <a:schemeClr val="accent6"/>
                </a:solidFill>
              </a:rPr>
              <a:t>ProductsController.cs</a:t>
            </a:r>
            <a:r>
              <a:rPr lang="en-US" dirty="0">
                <a:solidFill>
                  <a:schemeClr val="accent6"/>
                </a:solidFill>
              </a:rPr>
              <a:t>: Quản </a:t>
            </a:r>
            <a:r>
              <a:rPr lang="en-US" dirty="0" err="1">
                <a:solidFill>
                  <a:schemeClr val="accent6"/>
                </a:solidFill>
              </a:rPr>
              <a:t>lý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b="1" dirty="0" err="1">
                <a:solidFill>
                  <a:schemeClr val="accent6"/>
                </a:solidFill>
              </a:rPr>
              <a:t>Sản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b="1" dirty="0" err="1">
                <a:solidFill>
                  <a:schemeClr val="accent6"/>
                </a:solidFill>
              </a:rPr>
              <a:t>phẩm</a:t>
            </a:r>
            <a:r>
              <a:rPr lang="en-US" b="1" dirty="0">
                <a:solidFill>
                  <a:schemeClr val="accent6"/>
                </a:solidFill>
              </a:rPr>
              <a:t>/</a:t>
            </a:r>
            <a:r>
              <a:rPr lang="en-US" b="1" dirty="0" err="1">
                <a:solidFill>
                  <a:schemeClr val="accent6"/>
                </a:solidFill>
              </a:rPr>
              <a:t>Món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b="1" dirty="0" err="1">
                <a:solidFill>
                  <a:schemeClr val="accent6"/>
                </a:solidFill>
              </a:rPr>
              <a:t>ăn</a:t>
            </a:r>
            <a:r>
              <a:rPr lang="en-US" dirty="0">
                <a:solidFill>
                  <a:schemeClr val="accent6"/>
                </a:solidFill>
              </a:rPr>
              <a:t> (</a:t>
            </a:r>
            <a:r>
              <a:rPr lang="en-US" dirty="0" err="1">
                <a:solidFill>
                  <a:schemeClr val="accent6"/>
                </a:solidFill>
              </a:rPr>
              <a:t>hiển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thị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danh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sách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trà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sữa</a:t>
            </a:r>
            <a:r>
              <a:rPr lang="en-US" dirty="0">
                <a:solidFill>
                  <a:schemeClr val="accent6"/>
                </a:solidFill>
              </a:rPr>
              <a:t>, </a:t>
            </a:r>
            <a:r>
              <a:rPr lang="en-US" dirty="0" err="1">
                <a:solidFill>
                  <a:schemeClr val="accent6"/>
                </a:solidFill>
              </a:rPr>
              <a:t>xem</a:t>
            </a:r>
            <a:r>
              <a:rPr lang="en-US" dirty="0">
                <a:solidFill>
                  <a:schemeClr val="accent6"/>
                </a:solidFill>
              </a:rPr>
              <a:t> chi </a:t>
            </a:r>
            <a:r>
              <a:rPr lang="en-US" dirty="0" err="1">
                <a:solidFill>
                  <a:schemeClr val="accent6"/>
                </a:solidFill>
              </a:rPr>
              <a:t>tiết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món</a:t>
            </a:r>
            <a:r>
              <a:rPr lang="en-US" dirty="0">
                <a:solidFill>
                  <a:schemeClr val="accent6"/>
                </a:solidFill>
              </a:rPr>
              <a:t>, </a:t>
            </a:r>
            <a:r>
              <a:rPr lang="en-US" dirty="0" err="1">
                <a:solidFill>
                  <a:schemeClr val="accent6"/>
                </a:solidFill>
              </a:rPr>
              <a:t>tìm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kiếm</a:t>
            </a:r>
            <a:r>
              <a:rPr lang="en-US" dirty="0">
                <a:solidFill>
                  <a:schemeClr val="accent6"/>
                </a:solidFill>
              </a:rPr>
              <a:t>, CRUD </a:t>
            </a:r>
            <a:r>
              <a:rPr lang="en-US" dirty="0" err="1">
                <a:solidFill>
                  <a:schemeClr val="accent6"/>
                </a:solidFill>
              </a:rPr>
              <a:t>sản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phẩm</a:t>
            </a:r>
            <a:r>
              <a:rPr lang="en-US" dirty="0">
                <a:solidFill>
                  <a:schemeClr val="accent6"/>
                </a:solidFill>
              </a:rPr>
              <a:t>).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52425E-DBCF-E330-1C7C-C38DC37A45A1}"/>
              </a:ext>
            </a:extLst>
          </p:cNvPr>
          <p:cNvSpPr txBox="1"/>
          <p:nvPr/>
        </p:nvSpPr>
        <p:spPr>
          <a:xfrm>
            <a:off x="8496300" y="355155"/>
            <a:ext cx="26098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>
                <a:solidFill>
                  <a:srgbClr val="FF0000"/>
                </a:solidFill>
              </a:rPr>
              <a:t>Thư mục </a:t>
            </a:r>
            <a:r>
              <a:rPr lang="vi-VN" dirty="0">
                <a:solidFill>
                  <a:srgbClr val="FF0000"/>
                </a:solidFill>
                <a:latin typeface="Courier New" panose="02070309020205020404" pitchFamily="49" charset="0"/>
              </a:rPr>
              <a:t>Controllers</a:t>
            </a:r>
            <a:r>
              <a:rPr lang="vi-VN" dirty="0">
                <a:solidFill>
                  <a:srgbClr val="FF0000"/>
                </a:solidFill>
              </a:rPr>
              <a:t> (Bộ điều khiển - Xử lý logic)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697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8FD6DD-85E0-5E77-D24E-CB7AE57A0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760095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6A4DE6-2A9B-360E-2B7E-A96DA1D33CBF}"/>
              </a:ext>
            </a:extLst>
          </p:cNvPr>
          <p:cNvSpPr txBox="1"/>
          <p:nvPr/>
        </p:nvSpPr>
        <p:spPr>
          <a:xfrm>
            <a:off x="7753350" y="2391757"/>
            <a:ext cx="37029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/>
                </a:solidFill>
              </a:rPr>
              <a:t>Chứa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các</a:t>
            </a:r>
            <a:r>
              <a:rPr lang="en-US" dirty="0">
                <a:solidFill>
                  <a:schemeClr val="accent6"/>
                </a:solidFill>
              </a:rPr>
              <a:t> file </a:t>
            </a:r>
            <a:r>
              <a:rPr lang="en-US" dirty="0" err="1">
                <a:solidFill>
                  <a:schemeClr val="accent6"/>
                </a:solidFill>
              </a:rPr>
              <a:t>theo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dõi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lịch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sử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thay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đổi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cấu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trúc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dữ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liệu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của</a:t>
            </a:r>
            <a:r>
              <a:rPr lang="en-US" dirty="0">
                <a:solidFill>
                  <a:schemeClr val="accent6"/>
                </a:solidFill>
              </a:rPr>
              <a:t> Entity Framework Core.</a:t>
            </a:r>
            <a:r>
              <a:rPr lang="vi-VN" dirty="0">
                <a:solidFill>
                  <a:schemeClr val="accent6"/>
                </a:solidFill>
              </a:rPr>
              <a:t> Giúp đồng bộ và tự động tạo/cập nhật các bảng CSDL dưới SQL Server thông qua các lệnh Migration.</a:t>
            </a:r>
            <a:endParaRPr lang="en-US" dirty="0">
              <a:solidFill>
                <a:schemeClr val="accent6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EDF3FC-B558-C0FD-32A6-71DEACAE0C54}"/>
              </a:ext>
            </a:extLst>
          </p:cNvPr>
          <p:cNvSpPr txBox="1"/>
          <p:nvPr/>
        </p:nvSpPr>
        <p:spPr>
          <a:xfrm>
            <a:off x="8008257" y="1200358"/>
            <a:ext cx="3448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>
                <a:solidFill>
                  <a:srgbClr val="FF0000"/>
                </a:solidFill>
              </a:rPr>
              <a:t>Thư mục </a:t>
            </a:r>
            <a:r>
              <a:rPr lang="vi-VN" dirty="0">
                <a:solidFill>
                  <a:srgbClr val="FF0000"/>
                </a:solidFill>
                <a:latin typeface="Courier New" panose="02070309020205020404" pitchFamily="49" charset="0"/>
              </a:rPr>
              <a:t>Migrations</a:t>
            </a:r>
            <a:r>
              <a:rPr lang="vi-VN" dirty="0">
                <a:solidFill>
                  <a:srgbClr val="FF0000"/>
                </a:solidFill>
              </a:rPr>
              <a:t> (Quản lý CSDL)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102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CCFF9F-6C4B-AF38-5D90-53ACAE0E64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794385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B25A79-801C-5162-5CFB-DE0F8EDFE84C}"/>
              </a:ext>
            </a:extLst>
          </p:cNvPr>
          <p:cNvSpPr txBox="1"/>
          <p:nvPr/>
        </p:nvSpPr>
        <p:spPr>
          <a:xfrm>
            <a:off x="8420100" y="1462087"/>
            <a:ext cx="35433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accent6"/>
                </a:solidFill>
              </a:rPr>
              <a:t>ApplicationDbContext.cs</a:t>
            </a:r>
            <a:r>
              <a:rPr lang="vi-VN" dirty="0">
                <a:solidFill>
                  <a:schemeClr val="accent6"/>
                </a:solidFill>
              </a:rPr>
              <a:t>: File cầu nối chính giữa code C# và Database (SQL Server), quản lý các tập dữ liệu DbSet (như Products, Categories).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b="1" dirty="0" err="1">
                <a:solidFill>
                  <a:schemeClr val="accent6"/>
                </a:solidFill>
              </a:rPr>
              <a:t>Category.cs</a:t>
            </a:r>
            <a:r>
              <a:rPr lang="en-US" dirty="0">
                <a:solidFill>
                  <a:schemeClr val="accent6"/>
                </a:solidFill>
              </a:rPr>
              <a:t>: Model </a:t>
            </a:r>
            <a:r>
              <a:rPr lang="en-US" dirty="0" err="1">
                <a:solidFill>
                  <a:schemeClr val="accent6"/>
                </a:solidFill>
              </a:rPr>
              <a:t>quy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định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các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thuộc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tính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của</a:t>
            </a:r>
            <a:r>
              <a:rPr lang="en-US" dirty="0">
                <a:solidFill>
                  <a:schemeClr val="accent6"/>
                </a:solidFill>
              </a:rPr>
              <a:t> Danh </a:t>
            </a:r>
            <a:r>
              <a:rPr lang="en-US" dirty="0" err="1">
                <a:solidFill>
                  <a:schemeClr val="accent6"/>
                </a:solidFill>
              </a:rPr>
              <a:t>mục</a:t>
            </a:r>
            <a:r>
              <a:rPr lang="en-US" dirty="0">
                <a:solidFill>
                  <a:schemeClr val="accent6"/>
                </a:solidFill>
              </a:rPr>
              <a:t> (Id, Name, Description...).</a:t>
            </a:r>
          </a:p>
          <a:p>
            <a:r>
              <a:rPr lang="en-US" b="1" dirty="0" err="1">
                <a:solidFill>
                  <a:schemeClr val="accent6"/>
                </a:solidFill>
              </a:rPr>
              <a:t>Product.cs</a:t>
            </a:r>
            <a:r>
              <a:rPr lang="en-US" dirty="0">
                <a:solidFill>
                  <a:schemeClr val="accent6"/>
                </a:solidFill>
              </a:rPr>
              <a:t>: Model </a:t>
            </a:r>
            <a:r>
              <a:rPr lang="en-US" dirty="0" err="1">
                <a:solidFill>
                  <a:schemeClr val="accent6"/>
                </a:solidFill>
              </a:rPr>
              <a:t>quy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định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các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thuộc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tính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của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Sản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phẩm</a:t>
            </a:r>
            <a:r>
              <a:rPr lang="en-US" dirty="0">
                <a:solidFill>
                  <a:schemeClr val="accent6"/>
                </a:solidFill>
              </a:rPr>
              <a:t> (Id, Name, Price, </a:t>
            </a:r>
            <a:r>
              <a:rPr lang="en-US" dirty="0" err="1">
                <a:solidFill>
                  <a:schemeClr val="accent6"/>
                </a:solidFill>
              </a:rPr>
              <a:t>ImageUrl</a:t>
            </a:r>
            <a:r>
              <a:rPr lang="en-US" dirty="0">
                <a:solidFill>
                  <a:schemeClr val="accent6"/>
                </a:solidFill>
              </a:rPr>
              <a:t>, </a:t>
            </a:r>
            <a:r>
              <a:rPr lang="en-US" dirty="0" err="1">
                <a:solidFill>
                  <a:schemeClr val="accent6"/>
                </a:solidFill>
              </a:rPr>
              <a:t>CategoryId</a:t>
            </a:r>
            <a:r>
              <a:rPr lang="en-US" dirty="0">
                <a:solidFill>
                  <a:schemeClr val="accent6"/>
                </a:solidFill>
              </a:rPr>
              <a:t>...).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D5960-91E0-675C-8109-70D1F1897B66}"/>
              </a:ext>
            </a:extLst>
          </p:cNvPr>
          <p:cNvSpPr txBox="1"/>
          <p:nvPr/>
        </p:nvSpPr>
        <p:spPr>
          <a:xfrm>
            <a:off x="8591551" y="666750"/>
            <a:ext cx="2419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rgbClr val="FF0000"/>
                </a:solidFill>
              </a:rPr>
              <a:t>Thư mục Models (Mô hình dữ liệu)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593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6399E4-E0FE-BD1A-A96D-AA7D5C1A9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7245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2D9912-C2DC-2FF4-DF45-9D9CF0DB4FB1}"/>
              </a:ext>
            </a:extLst>
          </p:cNvPr>
          <p:cNvSpPr txBox="1"/>
          <p:nvPr/>
        </p:nvSpPr>
        <p:spPr>
          <a:xfrm>
            <a:off x="8331062" y="1460090"/>
            <a:ext cx="359423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chemeClr val="accent6"/>
                </a:solidFill>
              </a:rPr>
              <a:t>Chứa các file giao diện HTML/Razor (.cshtml) hiển thị cho người dùng: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b="1" dirty="0">
                <a:solidFill>
                  <a:schemeClr val="accent6"/>
                </a:solidFill>
              </a:rPr>
              <a:t>Cart/</a:t>
            </a:r>
            <a:r>
              <a:rPr lang="en-US" dirty="0">
                <a:solidFill>
                  <a:schemeClr val="accent6"/>
                </a:solidFill>
              </a:rPr>
              <a:t>: </a:t>
            </a:r>
            <a:r>
              <a:rPr lang="en-US" dirty="0" err="1">
                <a:solidFill>
                  <a:schemeClr val="accent6"/>
                </a:solidFill>
              </a:rPr>
              <a:t>Chứa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các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giao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diện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của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giỏ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hàng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và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thanh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toán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r>
              <a:rPr lang="en-US" b="1" dirty="0">
                <a:solidFill>
                  <a:schemeClr val="accent6"/>
                </a:solidFill>
              </a:rPr>
              <a:t>Categories/ &amp; Category/</a:t>
            </a:r>
            <a:r>
              <a:rPr lang="en-US" dirty="0">
                <a:solidFill>
                  <a:schemeClr val="accent6"/>
                </a:solidFill>
              </a:rPr>
              <a:t>: </a:t>
            </a:r>
            <a:r>
              <a:rPr lang="en-US" dirty="0" err="1">
                <a:solidFill>
                  <a:schemeClr val="accent6"/>
                </a:solidFill>
              </a:rPr>
              <a:t>Chứa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giao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diện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hiển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thị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danh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sách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và</a:t>
            </a:r>
            <a:r>
              <a:rPr lang="en-US" dirty="0">
                <a:solidFill>
                  <a:schemeClr val="accent6"/>
                </a:solidFill>
              </a:rPr>
              <a:t> chi </a:t>
            </a:r>
            <a:r>
              <a:rPr lang="en-US" dirty="0" err="1">
                <a:solidFill>
                  <a:schemeClr val="accent6"/>
                </a:solidFill>
              </a:rPr>
              <a:t>tiết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các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danh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mục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r>
              <a:rPr lang="en-US" b="1" dirty="0">
                <a:solidFill>
                  <a:schemeClr val="accent6"/>
                </a:solidFill>
              </a:rPr>
              <a:t>Home/</a:t>
            </a:r>
            <a:r>
              <a:rPr lang="en-US" dirty="0">
                <a:solidFill>
                  <a:schemeClr val="accent6"/>
                </a:solidFill>
              </a:rPr>
              <a:t>: </a:t>
            </a:r>
            <a:r>
              <a:rPr lang="en-US" dirty="0" err="1">
                <a:solidFill>
                  <a:schemeClr val="accent6"/>
                </a:solidFill>
              </a:rPr>
              <a:t>Chứa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giao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diện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trang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chủ</a:t>
            </a:r>
            <a:r>
              <a:rPr lang="en-US" dirty="0">
                <a:solidFill>
                  <a:schemeClr val="accent6"/>
                </a:solidFill>
              </a:rPr>
              <a:t> (</a:t>
            </a:r>
            <a:r>
              <a:rPr lang="en-US" dirty="0" err="1">
                <a:solidFill>
                  <a:schemeClr val="accent6"/>
                </a:solidFill>
              </a:rPr>
              <a:t>Index.cshtml</a:t>
            </a:r>
            <a:r>
              <a:rPr lang="en-US" dirty="0">
                <a:solidFill>
                  <a:schemeClr val="accent6"/>
                </a:solidFill>
              </a:rPr>
              <a:t>).</a:t>
            </a:r>
          </a:p>
          <a:p>
            <a:r>
              <a:rPr lang="en-US" b="1" dirty="0">
                <a:solidFill>
                  <a:schemeClr val="accent6"/>
                </a:solidFill>
              </a:rPr>
              <a:t>Products/ &amp; Product/</a:t>
            </a:r>
            <a:r>
              <a:rPr lang="en-US" dirty="0">
                <a:solidFill>
                  <a:schemeClr val="accent6"/>
                </a:solidFill>
              </a:rPr>
              <a:t>: </a:t>
            </a:r>
            <a:r>
              <a:rPr lang="en-US" dirty="0" err="1">
                <a:solidFill>
                  <a:schemeClr val="accent6"/>
                </a:solidFill>
              </a:rPr>
              <a:t>Chứa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giao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diện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danh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sách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món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trà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sữa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và</a:t>
            </a:r>
            <a:r>
              <a:rPr lang="en-US" dirty="0">
                <a:solidFill>
                  <a:schemeClr val="accent6"/>
                </a:solidFill>
              </a:rPr>
              <a:t> chi </a:t>
            </a:r>
            <a:r>
              <a:rPr lang="en-US" dirty="0" err="1">
                <a:solidFill>
                  <a:schemeClr val="accent6"/>
                </a:solidFill>
              </a:rPr>
              <a:t>tiết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từng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món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r>
              <a:rPr lang="vi-VN" b="1" dirty="0">
                <a:solidFill>
                  <a:schemeClr val="accent6"/>
                </a:solidFill>
              </a:rPr>
              <a:t>Shared/</a:t>
            </a:r>
            <a:r>
              <a:rPr lang="vi-VN" dirty="0">
                <a:solidFill>
                  <a:schemeClr val="accent6"/>
                </a:solidFill>
              </a:rPr>
              <a:t>: Chứa các thành phần giao diện chung được tái sử dụng ở nhiều trang:</a:t>
            </a:r>
            <a:endParaRPr lang="en-US" dirty="0">
              <a:solidFill>
                <a:schemeClr val="accent6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6F2364-9E53-3BD0-C559-47C334C4926D}"/>
              </a:ext>
            </a:extLst>
          </p:cNvPr>
          <p:cNvSpPr txBox="1"/>
          <p:nvPr/>
        </p:nvSpPr>
        <p:spPr>
          <a:xfrm>
            <a:off x="8534400" y="552450"/>
            <a:ext cx="262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rgbClr val="FF0000"/>
                </a:solidFill>
              </a:rPr>
              <a:t>Thư mục Views (Giao diện hiển thị)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663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Pham Hoang Phu</dc:creator>
  <cp:lastModifiedBy>Pham Hoang Phu</cp:lastModifiedBy>
  <cp:revision>1</cp:revision>
  <dcterms:created xsi:type="dcterms:W3CDTF">2026-07-23T15:36:56Z</dcterms:created>
  <dcterms:modified xsi:type="dcterms:W3CDTF">2026-07-23T15:38:08Z</dcterms:modified>
</cp:coreProperties>
</file>